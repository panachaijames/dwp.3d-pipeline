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dwp.visualization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Optimization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Setup Recommendations — UX First 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DWP 3D Visualization Team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0" y="1828800"/>
            <a:ext cx="1828800" cy="3200400"/>
          </a:xfrm>
          <a:prstGeom prst="rect">
            <a:avLst>
              <a:gd name="adj" fmla="val 5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926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UX priorities ranked by user impact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9601200" cy="822960"/>
          </a:xfrm>
          <a:prstGeom prst="roundRect">
            <a:avLst>
              <a:gd name="adj" fmla="val 8889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Information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cognitive load from 14+ flat tabs to a grouped two-tier hierarchy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150876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50876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9601200" cy="822960"/>
          </a:xfrm>
          <a:prstGeom prst="roundRect">
            <a:avLst>
              <a:gd name="adj" fmla="val 8889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&amp; Perceived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skeleton loaders, AI processing indicators, and optimistic UI updates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0" y="251460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51460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9601200" cy="822960"/>
          </a:xfrm>
          <a:prstGeom prst="roundRect">
            <a:avLst>
              <a:gd name="adj" fmla="val 8889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3337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Responsive Layout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breakpoints for sidebar collapse, scrollable phase pills, stacked forms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0" y="352044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52044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9601200" cy="822960"/>
          </a:xfrm>
          <a:prstGeom prst="roundRect">
            <a:avLst>
              <a:gd name="adj" fmla="val 8889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7160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Keyboard Navigation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div-onClick nav to semantic buttons with ARIA, focus rings, skip links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0" y="45262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452628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9601200" cy="822960"/>
          </a:xfrm>
          <a:prstGeom prst="roundRect">
            <a:avLst>
              <a:gd name="adj" fmla="val 8889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371600" y="5349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Interaction Patterns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5669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responses, retry buttons, token counts, copy-prompt actions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0" y="553212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553212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flat navigation vs. proposed grouped hierarchy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377440" cy="4754880"/>
          </a:xfrm>
          <a:prstGeom prst="roundRect">
            <a:avLst>
              <a:gd name="adj" fmla="val 3077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dwp.visualization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65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◫ Workspace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Prompt Gen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1520" y="2569464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69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Prompt Log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2871216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712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Gates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1520" y="3172968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72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Prompt Library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PDF Library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3776472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76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Image Library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1520" y="4078224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78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3D Models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31520" y="4379976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799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Naming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31520" y="4681728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Book a 3D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31520" y="4983480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983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3D Portal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1520" y="5285232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285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Reference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31520" y="5586984"/>
            <a:ext cx="2011680" cy="256032"/>
          </a:xfrm>
          <a:prstGeom prst="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5869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Settings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532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flat items = high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load, no grouping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4747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— OPTIMAL UX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74720" y="1463040"/>
            <a:ext cx="2926080" cy="5029200"/>
          </a:xfrm>
          <a:prstGeom prst="roundRect">
            <a:avLst>
              <a:gd name="adj" fmla="val 25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dwp.visualization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0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703320" y="21762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3886200" y="2121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703320" y="2432304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4" name="Text 42"/>
          <p:cNvSpPr/>
          <p:nvPr/>
        </p:nvSpPr>
        <p:spPr>
          <a:xfrm>
            <a:off x="388620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Krungthai Banking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5760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611880" y="2788920"/>
            <a:ext cx="2651760" cy="9144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47" name="Shape 45"/>
          <p:cNvSpPr/>
          <p:nvPr/>
        </p:nvSpPr>
        <p:spPr>
          <a:xfrm>
            <a:off x="3657600" y="2971800"/>
            <a:ext cx="2560320" cy="237744"/>
          </a:xfrm>
          <a:prstGeom prst="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3703320" y="29718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◫  Workspace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657600" y="3246120"/>
            <a:ext cx="2560320" cy="237744"/>
          </a:xfrm>
          <a:prstGeom prst="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3703320" y="32461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Prompt Gen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657600" y="3520440"/>
            <a:ext cx="2560320" cy="237744"/>
          </a:xfrm>
          <a:prstGeom prst="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3703320" y="35204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 Phase Gates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657600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 ▾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611880" y="3886200"/>
            <a:ext cx="2651760" cy="9144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55" name="Text 53"/>
          <p:cNvSpPr/>
          <p:nvPr/>
        </p:nvSpPr>
        <p:spPr>
          <a:xfrm>
            <a:off x="3703320" y="404164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  Prompt Log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703320" y="42885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 Prompt Library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703320" y="45354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 Image Library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03320" y="47823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  PDF Library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703320" y="50292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 3D Models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657600" y="5349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 ▾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611880" y="5394960"/>
            <a:ext cx="2651760" cy="9144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62" name="Text 60"/>
          <p:cNvSpPr/>
          <p:nvPr/>
        </p:nvSpPr>
        <p:spPr>
          <a:xfrm>
            <a:off x="3703320" y="55778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⌗  Naming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703320" y="582472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◫  Book a 3D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703320" y="60716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◩  3D Portal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474720" y="6263640"/>
            <a:ext cx="2926080" cy="228600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11880" y="6263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+ collapsible = scannable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858000" y="1463040"/>
            <a:ext cx="4754880" cy="5029200"/>
          </a:xfrm>
          <a:prstGeom prst="roundRect">
            <a:avLst>
              <a:gd name="adj" fmla="val 1538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408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CHANGES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040880" y="20116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Two-Tier Hierarchy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040880" y="2240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Navigation / Library / Tools with collapsible headers and visual dividers. Only 3 primary items visible at all times.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040880" y="276148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Collapsible Sections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040880" y="29900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and Tools sections collapse to headers. Users expand only what they need, reducing visual noise by ~60%.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040880" y="351129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Favourites / Pinned Tabs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40880" y="373989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users can pin their most-used tabs (e.g. Prompt Gen + Image Library) to the top for one-click access.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040880" y="426110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040880" y="448970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subtle 1px lines and 8px uppercase section labels with proper spacing between groups.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040880" y="5010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State Indicators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040880" y="52395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left-border accent (4px orange) on active tab + background tint for clear visual feedback.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040880" y="57607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Navigation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040880" y="59893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keys to move between items, Enter to select, Esc to collapse section.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TAB STATE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user context when switching between tabs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965960" y="160020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6002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Gen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000000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6002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Log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434840" y="160020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6002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Lib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31520" y="201168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content UNMOUNTS on switch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position lost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data lost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state lost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query lost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2377440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37744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✗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40480" y="2697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69748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✗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840480" y="3017520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01752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✗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1792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OPTIMAL UX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60020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6002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635240" y="160020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6002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Gen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69680" y="160020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000000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16002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Log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104120" y="160020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16002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Lib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400800" y="201168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mounted, toggle display:none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26517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position preserved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data preserved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state preserved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query preserved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601200" y="2377440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46920" y="237744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✓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601200" y="2697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0" y="269748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✓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601200" y="3017520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46920" y="301752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✓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PILLS — TOUCH TARGET FIX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42519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389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(9px / 3px padding)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22960" y="4709160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4709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BSA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1371600" y="4709160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0" y="4709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1920240" y="4709160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0240" y="4709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2468880" y="4709160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68880" y="4709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2296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small to tap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touch devices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114800" y="4389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(44px min touch target)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06240" y="46177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6240" y="46177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&amp; Site Analysis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080760" y="46177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46177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955280" y="46177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0" y="46177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Pre-Schematic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829800" y="46177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29800" y="46177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20624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44px height, full labels,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colour-coded by phase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STATES &amp; PERCEIVED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skeleton screens and AI processing indicators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— BRANDED SPLASH ONLY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000000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dwp.visualization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progress indicator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skeleton content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black screen for 2-5s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— SKELETON + PROGRESSIVE LOADING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0020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737360"/>
            <a:ext cx="914400" cy="137160"/>
          </a:xfrm>
          <a:prstGeom prst="roundRect">
            <a:avLst>
              <a:gd name="adj" fmla="val 26667"/>
            </a:avLst>
          </a:prstGeom>
          <a:solidFill>
            <a:srgbClr val="1F1F1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2011680"/>
            <a:ext cx="869536" cy="137160"/>
          </a:xfrm>
          <a:prstGeom prst="roundRect">
            <a:avLst>
              <a:gd name="adj" fmla="val 26667"/>
            </a:avLst>
          </a:prstGeom>
          <a:solidFill>
            <a:srgbClr val="1F1F1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286000"/>
            <a:ext cx="844886" cy="137160"/>
          </a:xfrm>
          <a:prstGeom prst="roundRect">
            <a:avLst>
              <a:gd name="adj" fmla="val 26667"/>
            </a:avLst>
          </a:prstGeom>
          <a:solidFill>
            <a:srgbClr val="1F1F1D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2560320"/>
            <a:ext cx="1049446" cy="137160"/>
          </a:xfrm>
          <a:prstGeom prst="roundRect">
            <a:avLst>
              <a:gd name="adj" fmla="val 26667"/>
            </a:avLst>
          </a:prstGeom>
          <a:solidFill>
            <a:srgbClr val="1F1F1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2834640"/>
            <a:ext cx="884735" cy="137160"/>
          </a:xfrm>
          <a:prstGeom prst="roundRect">
            <a:avLst>
              <a:gd name="adj" fmla="val 26667"/>
            </a:avLst>
          </a:prstGeom>
          <a:solidFill>
            <a:srgbClr val="1F1F1D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3108960"/>
            <a:ext cx="1066617" cy="137160"/>
          </a:xfrm>
          <a:prstGeom prst="roundRect">
            <a:avLst>
              <a:gd name="adj" fmla="val 26667"/>
            </a:avLst>
          </a:prstGeom>
          <a:solidFill>
            <a:srgbClr val="1F1F1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383280"/>
            <a:ext cx="1090706" cy="137160"/>
          </a:xfrm>
          <a:prstGeom prst="roundRect">
            <a:avLst>
              <a:gd name="adj" fmla="val 26667"/>
            </a:avLst>
          </a:prstGeom>
          <a:solidFill>
            <a:srgbClr val="1F1F1D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1600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173736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F1F1D"/>
          </a:solidFill>
          <a:ln/>
        </p:spPr>
      </p:sp>
      <p:sp>
        <p:nvSpPr>
          <p:cNvPr id="22" name="Shape 20"/>
          <p:cNvSpPr/>
          <p:nvPr/>
        </p:nvSpPr>
        <p:spPr>
          <a:xfrm>
            <a:off x="8092440" y="182880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2C2C29"/>
          </a:solidFill>
          <a:ln/>
        </p:spPr>
      </p:sp>
      <p:sp>
        <p:nvSpPr>
          <p:cNvPr id="23" name="Shape 21"/>
          <p:cNvSpPr/>
          <p:nvPr/>
        </p:nvSpPr>
        <p:spPr>
          <a:xfrm>
            <a:off x="8092440" y="2331720"/>
            <a:ext cx="548640" cy="91440"/>
          </a:xfrm>
          <a:prstGeom prst="roundRect">
            <a:avLst>
              <a:gd name="adj" fmla="val 30000"/>
            </a:avLst>
          </a:prstGeom>
          <a:solidFill>
            <a:srgbClr val="2C2C29"/>
          </a:solidFill>
          <a:ln/>
        </p:spPr>
      </p:sp>
      <p:sp>
        <p:nvSpPr>
          <p:cNvPr id="24" name="Shape 22"/>
          <p:cNvSpPr/>
          <p:nvPr/>
        </p:nvSpPr>
        <p:spPr>
          <a:xfrm>
            <a:off x="8092440" y="2468880"/>
            <a:ext cx="731520" cy="73152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0" y="173736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F1F1D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5440" y="182880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2C2C29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5440" y="2331720"/>
            <a:ext cx="548640" cy="91440"/>
          </a:xfrm>
          <a:prstGeom prst="roundRect">
            <a:avLst>
              <a:gd name="adj" fmla="val 30000"/>
            </a:avLst>
          </a:prstGeom>
          <a:solidFill>
            <a:srgbClr val="2C2C2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35440" y="2468880"/>
            <a:ext cx="731520" cy="73152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87000" y="173736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F1F1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78440" y="182880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2C2C29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78440" y="2331720"/>
            <a:ext cx="548640" cy="91440"/>
          </a:xfrm>
          <a:prstGeom prst="roundRect">
            <a:avLst>
              <a:gd name="adj" fmla="val 30000"/>
            </a:avLst>
          </a:prstGeom>
          <a:solidFill>
            <a:srgbClr val="2C2C2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78440" y="2468880"/>
            <a:ext cx="731520" cy="73152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8001000" y="283464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F1F1D"/>
          </a:solidFill>
          <a:ln/>
        </p:spPr>
      </p:sp>
      <p:sp>
        <p:nvSpPr>
          <p:cNvPr id="34" name="Shape 32"/>
          <p:cNvSpPr/>
          <p:nvPr/>
        </p:nvSpPr>
        <p:spPr>
          <a:xfrm>
            <a:off x="8092440" y="292608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2C2C29"/>
          </a:solidFill>
          <a:ln/>
        </p:spPr>
      </p:sp>
      <p:sp>
        <p:nvSpPr>
          <p:cNvPr id="35" name="Shape 33"/>
          <p:cNvSpPr/>
          <p:nvPr/>
        </p:nvSpPr>
        <p:spPr>
          <a:xfrm>
            <a:off x="8092440" y="3429000"/>
            <a:ext cx="548640" cy="91440"/>
          </a:xfrm>
          <a:prstGeom prst="roundRect">
            <a:avLst>
              <a:gd name="adj" fmla="val 30000"/>
            </a:avLst>
          </a:prstGeom>
          <a:solidFill>
            <a:srgbClr val="2C2C29"/>
          </a:solidFill>
          <a:ln/>
        </p:spPr>
      </p:sp>
      <p:sp>
        <p:nvSpPr>
          <p:cNvPr id="36" name="Shape 34"/>
          <p:cNvSpPr/>
          <p:nvPr/>
        </p:nvSpPr>
        <p:spPr>
          <a:xfrm>
            <a:off x="8092440" y="3566160"/>
            <a:ext cx="731520" cy="73152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0" y="283464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F1F1D"/>
          </a:solidFill>
          <a:ln/>
        </p:spPr>
      </p:sp>
      <p:sp>
        <p:nvSpPr>
          <p:cNvPr id="38" name="Shape 36"/>
          <p:cNvSpPr/>
          <p:nvPr/>
        </p:nvSpPr>
        <p:spPr>
          <a:xfrm>
            <a:off x="9235440" y="292608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2C2C29"/>
          </a:solidFill>
          <a:ln/>
        </p:spPr>
      </p:sp>
      <p:sp>
        <p:nvSpPr>
          <p:cNvPr id="39" name="Shape 37"/>
          <p:cNvSpPr/>
          <p:nvPr/>
        </p:nvSpPr>
        <p:spPr>
          <a:xfrm>
            <a:off x="9235440" y="3429000"/>
            <a:ext cx="548640" cy="91440"/>
          </a:xfrm>
          <a:prstGeom prst="roundRect">
            <a:avLst>
              <a:gd name="adj" fmla="val 30000"/>
            </a:avLst>
          </a:prstGeom>
          <a:solidFill>
            <a:srgbClr val="2C2C29"/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3566160"/>
            <a:ext cx="731520" cy="73152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87000" y="283464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F1F1D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78440" y="292608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2C2C29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78440" y="3429000"/>
            <a:ext cx="548640" cy="91440"/>
          </a:xfrm>
          <a:prstGeom prst="roundRect">
            <a:avLst>
              <a:gd name="adj" fmla="val 30000"/>
            </a:avLst>
          </a:prstGeom>
          <a:solidFill>
            <a:srgbClr val="2C2C29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78440" y="3566160"/>
            <a:ext cx="731520" cy="73152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251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 INDICATOR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8640" y="448056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" y="46177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475488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concept for hotel lobby...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68680" y="52578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F1F1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5349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dwp.render is generating...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05840" y="5669280"/>
            <a:ext cx="2468880" cy="109728"/>
          </a:xfrm>
          <a:prstGeom prst="roundRect">
            <a:avLst>
              <a:gd name="adj" fmla="val 50000"/>
            </a:avLst>
          </a:prstGeom>
          <a:solidFill>
            <a:srgbClr val="0F0F0E"/>
          </a:solidFill>
          <a:ln/>
        </p:spPr>
      </p:sp>
      <p:sp>
        <p:nvSpPr>
          <p:cNvPr id="53" name="Shape 51"/>
          <p:cNvSpPr/>
          <p:nvPr/>
        </p:nvSpPr>
        <p:spPr>
          <a:xfrm>
            <a:off x="1005840" y="5669280"/>
            <a:ext cx="1463040" cy="10972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54" name="Text 52"/>
          <p:cNvSpPr/>
          <p:nvPr/>
        </p:nvSpPr>
        <p:spPr>
          <a:xfrm>
            <a:off x="1005840" y="5833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Estimated: ~12s remaining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217920" y="461772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4983480"/>
            <a:ext cx="484632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existing Skeleton.tsx component for project lists and grids</a:t>
            </a:r>
            <a:endParaRPr lang="en-US" sz="7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sidebar + top bar immediately, only content area loads</a:t>
            </a:r>
            <a:endParaRPr lang="en-US" sz="7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shimmer animation to skeleton blocks (CSS keyframe)</a:t>
            </a:r>
            <a:endParaRPr lang="en-US" sz="7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calls: show progress bar with estimated time (avg per model)</a:t>
            </a:r>
            <a:endParaRPr lang="en-US" sz="7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UI: update local state before Supabase confirms</a:t>
            </a:r>
            <a:endParaRPr lang="en-US" sz="7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gen: show blurred placeholder that sharpens on completion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RESPONSIVE LAYOUT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breakpoints for tablet and mobile views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(current)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731520" cy="3017520"/>
          </a:xfrm>
          <a:prstGeom prst="roundRect">
            <a:avLst>
              <a:gd name="adj" fmla="val 10000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220px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463040" y="155448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Content Area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463040" y="1554480"/>
            <a:ext cx="2468880" cy="228600"/>
          </a:xfrm>
          <a:prstGeom prst="rect">
            <a:avLst/>
          </a:prstGeom>
          <a:solidFill>
            <a:srgbClr val="1F1F1D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1554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  Project Name    BSA  CON  SCH  DD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438912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 (proposed, &lt; 1024px)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146304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554480"/>
            <a:ext cx="320040" cy="3017520"/>
          </a:xfrm>
          <a:prstGeom prst="roundRect">
            <a:avLst>
              <a:gd name="adj" fmla="val 22857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4846320" y="1554480"/>
            <a:ext cx="2377440" cy="3017520"/>
          </a:xfrm>
          <a:prstGeom prst="roundRect">
            <a:avLst>
              <a:gd name="adj" fmla="val 3077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Auto-collapsed rail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content space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46320" y="1554480"/>
            <a:ext cx="2377440" cy="228600"/>
          </a:xfrm>
          <a:prstGeom prst="rect">
            <a:avLst/>
          </a:prstGeom>
          <a:solidFill>
            <a:srgbClr val="1F1F1D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  Project   ← BSA CON SCH DD →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768096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(proposed, &lt; 768px)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412480" y="1463040"/>
            <a:ext cx="1828800" cy="3200400"/>
          </a:xfrm>
          <a:prstGeom prst="roundRect">
            <a:avLst>
              <a:gd name="adj" fmla="val 40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1554480"/>
            <a:ext cx="1645920" cy="3017520"/>
          </a:xfrm>
          <a:prstGeom prst="roundRect">
            <a:avLst>
              <a:gd name="adj" fmla="val 4444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4160520"/>
            <a:ext cx="1645920" cy="320040"/>
          </a:xfrm>
          <a:prstGeom prst="rect">
            <a:avLst/>
          </a:prstGeom>
          <a:solidFill>
            <a:srgbClr val="1F1F1D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4160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◫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869680" y="4160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89720" y="4160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509760" y="4160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829800" y="4160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03920" y="1554480"/>
            <a:ext cx="1645920" cy="228600"/>
          </a:xfrm>
          <a:prstGeom prst="rect">
            <a:avLst/>
          </a:prstGeom>
          <a:solidFill>
            <a:srgbClr val="1F1F1D"/>
          </a:solidFill>
          <a:ln/>
        </p:spPr>
      </p:sp>
      <p:sp>
        <p:nvSpPr>
          <p:cNvPr id="32" name="Text 30"/>
          <p:cNvSpPr/>
          <p:nvPr/>
        </p:nvSpPr>
        <p:spPr>
          <a:xfrm>
            <a:off x="854964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  dwp.viz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8686800" y="21031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Full-width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700" dirty="0"/>
          </a:p>
          <a:p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primary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864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NOTES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" y="5120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2120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@media (max-width: 1024px) — auto-collapse sidebar to 52px icon-only rail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@media (max-width: 768px) — hide sidebar, show bottom navigation bar with 5 primary icons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pills: horizontal scroll with fade edges on mobile (overflow-x: auto, mask-image gradient)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layouts: stack 2-column grids to single column (already done in OutsourcePortal — reuse those patterns)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viewer / render workspace: remove fixed 360px side panels, use full-width with toggle drawer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KEYBOARD NAVIGATION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HTML, ARIA attributes, and focus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CODE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className="vw-ri"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onClick={() =&gt; setTab(n.k)}&gt;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className="vw-ic"&gt;{n.ic}&lt;/span&gt;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&lt;span&gt;{n.lb}&lt;/span&gt;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6002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00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ARIA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0" y="2240280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24028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keyboard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1792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CODE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544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role="tab"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aria-selected={tab === n.k}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className="vw-ri"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onClick={() =&gt; setTab(n.k)}&gt;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className="vw-ic"&gt;{n.ic}&lt;/span&gt;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&lt;span&gt;{n.lb}&lt;/span&gt;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332720" y="1600200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78440" y="16002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332720" y="192024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78440" y="19202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332720" y="2240280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224028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CHECKLIST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77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Nav items → &lt;button role='tab'&gt;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0" y="3977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all &lt;div onClick&gt; with semantic &lt;button&gt; elements with role='tab' and aria-selected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1520" y="4389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Focus-visible rings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8912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:focus-visible { outline: 2px solid var(--or); outline-offset: 2px } to all interactive elements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31520" y="4800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Skip-to-content link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89120" y="4800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hidden link at top of page: 'Skip to main content' → focuses the vw-mn container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31520" y="5212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Form label associations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0" y="5212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htmlFor/id pairs to all &lt;label&gt;/&lt;input&gt; in VizWorkflow forms (already done in LoginPage)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" y="5623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Colour contrast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89120" y="5623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all text meets WCAG 2.1 AA (4.5:1 for body, 3:1 for large text). Current --tx3 on --bg may fail.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31520" y="6035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Tab order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89120" y="6035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logical tab order: sidebar nav → top bar → main content. Use tabIndex where needed.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/ LIGHT THEME OPTIMIZATION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OS preference, add System option, fix portal inconsistency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5F4F1"/>
          </a:solidFill>
          <a:ln w="6350">
            <a:solidFill>
              <a:srgbClr val="DDD9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822960" cy="256032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DD9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dwp.viz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5C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Gen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5C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Gates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1554480" y="1554480"/>
            <a:ext cx="2377440" cy="25603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DD9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Area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38912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89120" y="14630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554480"/>
            <a:ext cx="822960" cy="2560320"/>
          </a:xfrm>
          <a:prstGeom prst="roundRect">
            <a:avLst>
              <a:gd name="adj" fmla="val 8889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600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dwp.viz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526280" y="18745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4526280" y="2103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Gen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4526280" y="23317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Gates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5394960" y="1554480"/>
            <a:ext cx="2377440" cy="2560320"/>
          </a:xfrm>
          <a:prstGeom prst="roundRect">
            <a:avLst>
              <a:gd name="adj" fmla="val 3077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Area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22960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3-WAY TOGGLE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29600" y="14630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169164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0F0F0E"/>
          </a:solidFill>
          <a:ln/>
        </p:spPr>
      </p:sp>
      <p:sp>
        <p:nvSpPr>
          <p:cNvPr id="27" name="Shape 25"/>
          <p:cNvSpPr/>
          <p:nvPr/>
        </p:nvSpPr>
        <p:spPr>
          <a:xfrm>
            <a:off x="8823960" y="1719072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171907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 Light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9601200" y="1719072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E8731A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171907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⊙ System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0378440" y="1719072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10378440" y="171907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☾ Dark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841248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prefers-color-scheme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set to 'System'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8640" y="4434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TO FIX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" y="46634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800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OutsourcePortal always dark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023360" y="4800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uses bg-zinc-950 hardcoded. Wrap in ThemeContext and use CSS vars.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241280" y="4846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87000" y="48463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31520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 theme option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23360" y="5212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third toggle state that reads window.matchMedia('(prefers-color-scheme: dark)').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241280" y="525780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87000" y="525780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31520" y="5623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class toggle (.viz-dark + .dark)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23360" y="5623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to single .viz-dark class. Remove redundant .dark toggle from ThemeContext.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241280" y="5669280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87000" y="5669280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31520" y="6035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hardcoded to 'light'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023360" y="6035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first visit, read OS preference. Subsequent visits use localStorage.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0241280" y="6080760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87000" y="6080760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INTERACTION UX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Streaming, retry, token counts, and copy-prompt actions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PROMPT GEN WORKSPACE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858000" cy="5029200"/>
          </a:xfrm>
          <a:prstGeom prst="roundRect">
            <a:avLst>
              <a:gd name="adj" fmla="val 1455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2011680" cy="4754880"/>
          </a:xfrm>
          <a:prstGeom prst="roundRect">
            <a:avLst>
              <a:gd name="adj" fmla="val 3636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→ Narrative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77240" y="2194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→ Image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77240" y="246888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Critique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1,247 / 4,096 tokens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77240" y="3383280"/>
            <a:ext cx="1828800" cy="73152"/>
          </a:xfrm>
          <a:prstGeom prst="roundRect">
            <a:avLst>
              <a:gd name="adj" fmla="val 50000"/>
            </a:avLst>
          </a:prstGeom>
          <a:solidFill>
            <a:srgbClr val="0F0F0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38328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E8731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118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TIME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~8-12 seconds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34640" y="1600200"/>
            <a:ext cx="4434840" cy="4754880"/>
          </a:xfrm>
          <a:prstGeom prst="roundRect">
            <a:avLst>
              <a:gd name="adj" fmla="val 1649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73736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755648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75488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luxury hotel lobby concept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marble floors and warm lighting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971800" y="24688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F1F1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251460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 ·  Gemini 2.0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3063240" y="26974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grand hotel lobby flooded with natural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through double-height windows.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Calacatta marble floors reflect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brass pendant lights suspended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coffered ceiling...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063240" y="402336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063240" y="40233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Copy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977640" y="402336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977640" y="40233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Regenerate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74920" y="402336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40233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Save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971800" y="493776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your prompt...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37960" y="501091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8731A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501091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0" y="1463040"/>
            <a:ext cx="3840480" cy="5029200"/>
          </a:xfrm>
          <a:prstGeom prst="roundRect">
            <a:avLst>
              <a:gd name="adj" fmla="val 190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TO ADD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528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Text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5280" y="21671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tokens as they arrive via SSE/fetch streaming instead of waiting for full response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955280" y="26243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Prompt Button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955280" y="28254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copy for generated prompts — most requested by team for Midjourney workflow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955280" y="32826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 / Retry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955280" y="34838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same prompt without retyping. Essential for iterative design exploration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955280" y="39410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955280" y="41422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input token count vs model max. Prevents truncated outputs on long briefs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955280" y="4599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Time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955280" y="4800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average generation time per model. Reduces uncertainty during AI processing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955280" y="5257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Library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955280" y="5458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prompt+output directly to Prompt Library from the conversation view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955280" y="59161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55280" y="61173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Imagen generation, show blurred low-res placeholder that sharpens on completion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VIEWER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Lazy-load Three.js, WebGL detection, Suspense boundaries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ISSUE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bundle (~500KB gzipped) is imported at the top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VizWorkflowApp.tsx — loaded on EVERY page visit even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user never opens the Book3D tab.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+1.2s initial load time for all 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SOLUTION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Lazy-load Three.js only when Book3D tab opens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WebGL capability detection before rendering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Wrap in &lt;Suspense&gt; with meaningful fallback 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Show memory warning for models &gt; 50MB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next/dynamic(() =&gt; import('./Book3DTab'),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{ ssr: false, loading: () =&gt; &lt;BookSkeleton /&gt; })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DETECTION FALLBACK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438912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4572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5029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Viewer Unavailable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5349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browser does not support WebGL.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Chrome or Edge for 3D model viewing.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SUSPENSE LOADING FALLBACK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39776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42976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46634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1F1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3D Viewer...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32520" y="5166360"/>
            <a:ext cx="320040" cy="320040"/>
          </a:xfrm>
          <a:prstGeom prst="ellipse">
            <a:avLst/>
          </a:prstGeom>
          <a:noFill/>
          <a:ln w="19050">
            <a:solidFill>
              <a:srgbClr val="E8731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&amp; UPLOAD 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indicators, auto-save, and improved file linking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BOOK 3D REQUEST FORM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858000" cy="5029200"/>
          </a:xfrm>
          <a:prstGeom prst="roundRect">
            <a:avLst>
              <a:gd name="adj" fmla="val 1455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6583680" cy="411480"/>
          </a:xfrm>
          <a:prstGeom prst="roundRect">
            <a:avLst>
              <a:gd name="adj" fmla="val 17778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73352"/>
            <a:ext cx="201168" cy="201168"/>
          </a:xfrm>
          <a:prstGeom prst="ellipse">
            <a:avLst/>
          </a:prstGeom>
          <a:solidFill>
            <a:srgbClr val="E8731A"/>
          </a:solidFill>
          <a:ln w="6350">
            <a:solidFill>
              <a:srgbClr val="E87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73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640080" y="190195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1901952" y="1673352"/>
            <a:ext cx="201168" cy="201168"/>
          </a:xfrm>
          <a:prstGeom prst="ellipse">
            <a:avLst/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1673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719072" y="190195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&amp; Scope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2980944" y="1673352"/>
            <a:ext cx="201168" cy="201168"/>
          </a:xfrm>
          <a:prstGeom prst="ellipse">
            <a:avLst/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80944" y="1673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798064" y="190195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4059936" y="1673352"/>
            <a:ext cx="201168" cy="201168"/>
          </a:xfrm>
          <a:prstGeom prst="ellipse">
            <a:avLst/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1673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877056" y="190195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5138928" y="1673352"/>
            <a:ext cx="201168" cy="201168"/>
          </a:xfrm>
          <a:prstGeom prst="ellipse">
            <a:avLst/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1673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956048" y="190195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&amp; Links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6217920" y="1673352"/>
            <a:ext cx="201168" cy="201168"/>
          </a:xfrm>
          <a:prstGeom prst="ellipse">
            <a:avLst/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673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035040" y="190195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1051560" y="1769364"/>
            <a:ext cx="868680" cy="18288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28" name="Shape 26"/>
          <p:cNvSpPr/>
          <p:nvPr/>
        </p:nvSpPr>
        <p:spPr>
          <a:xfrm>
            <a:off x="2130552" y="1769364"/>
            <a:ext cx="868680" cy="18288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9544" y="1769364"/>
            <a:ext cx="868680" cy="18288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30" name="Shape 28"/>
          <p:cNvSpPr/>
          <p:nvPr/>
        </p:nvSpPr>
        <p:spPr>
          <a:xfrm>
            <a:off x="4288536" y="1769364"/>
            <a:ext cx="868680" cy="18288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31" name="Shape 29"/>
          <p:cNvSpPr/>
          <p:nvPr/>
        </p:nvSpPr>
        <p:spPr>
          <a:xfrm>
            <a:off x="5367528" y="1769364"/>
            <a:ext cx="868680" cy="18288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2148840"/>
            <a:ext cx="6583680" cy="3474720"/>
          </a:xfrm>
          <a:prstGeom prst="roundRect">
            <a:avLst>
              <a:gd name="adj" fmla="val 2105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Project Information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2560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 *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22960" y="2743200"/>
            <a:ext cx="3017520" cy="320040"/>
          </a:xfrm>
          <a:prstGeom prst="roundRect">
            <a:avLst>
              <a:gd name="adj" fmla="val 22857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Krungthai Banking Hall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0" y="2560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*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114800" y="2743200"/>
            <a:ext cx="3017520" cy="320040"/>
          </a:xfrm>
          <a:prstGeom prst="roundRect">
            <a:avLst>
              <a:gd name="adj" fmla="val 22857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 ▾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" y="3200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22960" y="338328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3429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banking hall with high ceilings and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stone finishes...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943600" y="3886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/ 500 characters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5029200" y="224028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22402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Auto-saved draft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303520" y="5303520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5303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Back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09360" y="5303520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E8731A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5303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772400" y="1463040"/>
            <a:ext cx="3840480" cy="5029200"/>
          </a:xfrm>
          <a:prstGeom prst="roundRect">
            <a:avLst>
              <a:gd name="adj" fmla="val 190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5528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Progress Bar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955280" y="21671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indicator showing 'Step 1 of 6' with clickable steps to jump between sections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955280" y="26243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 Drafts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55280" y="28254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form state to localStorage every 30s. Restore on page reload with 'Resume draft?' prompt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955280" y="32826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Count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955280" y="34838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 character count on description fields with max limit indicator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955280" y="39410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Tag-Based URL Input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955280" y="41422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comma-separated file links with tag input — each URL becomes a removable chip with validation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955280" y="4599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Areas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955280" y="4800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reordering of area scopes via drag handles instead of fixed order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955280" y="5257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Picker Loading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955280" y="5458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folder tree skeleton during Google Drive API fetch instead of blank modal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955280" y="59161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Validation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955280" y="61173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field-level errors immediately on blur, not only on form submit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FEEDBACK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alert() with toast system, add error boundaries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— BROWSER ALERT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73736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5F4F1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8288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localhost:3000 says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554480" y="2103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to save settings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246888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468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UI, no retry option,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actionable information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1792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— TOAST NOTIFICATION SYSTEM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60020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600200"/>
            <a:ext cx="54864" cy="411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Project saved successfully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92640" y="1600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14884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148840"/>
            <a:ext cx="54864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Failed to save settings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686800" y="2267712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22677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537960" y="24048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error — check connection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400800" y="27889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788920"/>
            <a:ext cx="54864" cy="411480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Session expires in 5 minutes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520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BOUNDARY PER TAB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93192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171715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4023360"/>
            <a:ext cx="1097280" cy="2286000"/>
          </a:xfrm>
          <a:prstGeom prst="roundRect">
            <a:avLst>
              <a:gd name="adj" fmla="val 6667"/>
            </a:avLst>
          </a:prstGeom>
          <a:solidFill>
            <a:srgbClr val="0F0F0E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114800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Gen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Lib ✗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011680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256032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Library encountered an error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7744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the app continues working.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this tab is affected.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548640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E8731A"/>
          </a:solidFill>
          <a:ln/>
        </p:spPr>
      </p:sp>
      <p:sp>
        <p:nvSpPr>
          <p:cNvPr id="39" name="Text 37"/>
          <p:cNvSpPr/>
          <p:nvPr/>
        </p:nvSpPr>
        <p:spPr>
          <a:xfrm>
            <a:off x="3017520" y="5486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 Tab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4206240"/>
            <a:ext cx="530352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all 6 alert() calls in SettingsPortal and Book3DTab with toast notifications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&lt;ErrorBoundary&gt; wrapper around each tab's content — catches render crashes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queue: stack multiple toasts with auto-dismiss (3s success, 8s error)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toasts include 'Retry' button that re-runs the failed operation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component already exists as vw-notice class — extend it with variants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80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global error handler for unhandled promise rejections → show toast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vs. effort for all UX recommendations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7772400" cy="5029200"/>
          </a:xfrm>
          <a:prstGeom prst="roundRect">
            <a:avLst>
              <a:gd name="adj" fmla="val 1455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463040"/>
            <a:ext cx="18288" cy="4663440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6126480"/>
            <a:ext cx="6766560" cy="18288"/>
          </a:xfrm>
          <a:prstGeom prst="rect">
            <a:avLst/>
          </a:prstGeom>
          <a:solidFill>
            <a:srgbClr val="2C2C29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21792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LOW EFFORT                                            HIGH EFFORT →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8600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HAVE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LATER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9144" cy="4663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794760"/>
            <a:ext cx="6766560" cy="9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18288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alert() → toast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828800" y="22860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skeleton loaders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828800" y="27432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prompt button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200400" y="18288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Focus-visible rings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200400" y="22860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pill sizing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200400" y="27432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theme option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303520" y="18288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Two-tier navigation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303520" y="22860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state preservation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303520" y="27432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AI responses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583680" y="18288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responsive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583680" y="22860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boundaries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828800" y="40233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7452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 count on fields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1828800" y="438912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74520" y="4389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dark class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303520" y="40233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Lazy-load Three.js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303520" y="438912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9240" y="4389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areas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6400800" y="40233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auto-save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8686800" y="1280160"/>
            <a:ext cx="2926080" cy="5029200"/>
          </a:xfrm>
          <a:prstGeom prst="roundRect">
            <a:avLst>
              <a:gd name="adj" fmla="val 2500"/>
            </a:avLst>
          </a:prstGeom>
          <a:solidFill>
            <a:srgbClr val="1F1F1D"/>
          </a:solidFill>
          <a:ln w="6350">
            <a:solidFill>
              <a:srgbClr val="2C2C2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869680" y="1828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(Do First)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86968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items — can be completed in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sprints with minimal risk.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UX improvement.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869680" y="2926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(Plan &amp; Execute)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69680" y="3200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items — require architecture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changes. High impact but need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 implementation.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869680" y="4023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Have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86968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items — low effort, polish.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when capacity allows.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869680" y="4937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Later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869680" y="5212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items — useful but not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urgent. Schedule for Q3.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DWP 3D Pipeline — UX Optimization Report</dc:title>
  <dc:subject>PptxGenJS Presentation</dc:subject>
  <dc:creator>DWP 3D Pipeline</dc:creator>
  <cp:lastModifiedBy>DWP 3D Pipeline</cp:lastModifiedBy>
  <cp:revision>1</cp:revision>
  <dcterms:created xsi:type="dcterms:W3CDTF">2026-03-19T05:50:54Z</dcterms:created>
  <dcterms:modified xsi:type="dcterms:W3CDTF">2026-03-19T05:50:54Z</dcterms:modified>
</cp:coreProperties>
</file>